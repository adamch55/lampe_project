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3014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-1097280"/>
            <a:ext cx="5029200" cy="5029200"/>
          </a:xfrm>
          <a:prstGeom prst="ellipse">
            <a:avLst/>
          </a:prstGeom>
          <a:solidFill>
            <a:srgbClr val="F4A700">
              <a:alpha val="18000"/>
            </a:srgbClr>
          </a:solidFill>
          <a:ln w="12700">
            <a:solidFill>
              <a:srgbClr val="F4A700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5943600" y="-457200"/>
            <a:ext cx="3657600" cy="3657600"/>
          </a:xfrm>
          <a:prstGeom prst="ellipse">
            <a:avLst/>
          </a:prstGeom>
          <a:solidFill>
            <a:srgbClr val="F4A700">
              <a:alpha val="30000"/>
            </a:srgbClr>
          </a:solidFill>
          <a:ln w="12700">
            <a:solidFill>
              <a:srgbClr val="F4A70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 Communication Sans Fil — Valrose 2025–2026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Lampe Connectée</a:t>
            </a:r>
            <a:endParaRPr lang="en-US" sz="460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6858000" cy="10058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i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Adaptation </a:t>
            </a:r>
            <a:r>
              <a:rPr lang="en-US" sz="1600" i="1" err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automatique</a:t>
            </a:r>
            <a:r>
              <a:rPr lang="en-US" sz="1600" i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 de la couleur</a:t>
            </a:r>
            <a:endParaRPr lang="en-US" sz="160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 i="1" err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600" i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i="1" err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fonction</a:t>
            </a:r>
            <a:r>
              <a:rPr lang="en-US" sz="1600" i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 de la lumière </a:t>
            </a:r>
            <a:r>
              <a:rPr lang="en-US" sz="1600" i="1" err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ambiante</a:t>
            </a:r>
            <a:r>
              <a:rPr lang="en-US" sz="1600" i="1">
                <a:solidFill>
                  <a:srgbClr val="FFD166"/>
                </a:solidFill>
                <a:latin typeface="Calibri"/>
                <a:ea typeface="Calibri"/>
                <a:cs typeface="Calibri"/>
              </a:rPr>
              <a:t> via LoRa 868 MHz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57200" y="3566160"/>
            <a:ext cx="4114800" cy="36576"/>
          </a:xfrm>
          <a:prstGeom prst="rect">
            <a:avLst/>
          </a:prstGeom>
          <a:solidFill>
            <a:srgbClr val="F4A700"/>
          </a:solidFill>
          <a:ln w="12700">
            <a:solidFill>
              <a:srgbClr val="F4A7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57200" y="3794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Université Côte d'Azur  •  </a:t>
            </a: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Département Électronique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457200" y="4251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CHAMI Adam • WODZYNSKI tamara • MEZZASALMA Teo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Sommaire</a:t>
            </a:r>
            <a:endParaRPr lang="en-US" sz="340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4864" cy="868680"/>
          </a:xfrm>
          <a:prstGeom prst="rect">
            <a:avLst/>
          </a:prstGeom>
          <a:solidFill>
            <a:srgbClr val="F4A700"/>
          </a:solidFill>
          <a:ln w="12700">
            <a:solidFill>
              <a:srgbClr val="F4A7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94360" y="11430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4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/>
          </a:p>
        </p:txBody>
      </p:sp>
      <p:sp>
        <p:nvSpPr>
          <p:cNvPr id="6" name="Text 4"/>
          <p:cNvSpPr/>
          <p:nvPr/>
        </p:nvSpPr>
        <p:spPr>
          <a:xfrm>
            <a:off x="1115568" y="1280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Problématique</a:t>
            </a:r>
            <a:endParaRPr lang="en-US" sz="150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457200" y="2194560"/>
            <a:ext cx="54864" cy="868680"/>
          </a:xfrm>
          <a:prstGeom prst="rect">
            <a:avLst/>
          </a:prstGeom>
          <a:solidFill>
            <a:srgbClr val="F4A700"/>
          </a:solidFill>
          <a:ln w="12700">
            <a:solidFill>
              <a:srgbClr val="F4A7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4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/>
          </a:p>
        </p:txBody>
      </p:sp>
      <p:sp>
        <p:nvSpPr>
          <p:cNvPr id="10" name="Text 8"/>
          <p:cNvSpPr/>
          <p:nvPr/>
        </p:nvSpPr>
        <p:spPr>
          <a:xfrm>
            <a:off x="1115568" y="2377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système</a:t>
            </a:r>
            <a:endParaRPr lang="en-US" sz="150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54864" cy="868680"/>
          </a:xfrm>
          <a:prstGeom prst="rect">
            <a:avLst/>
          </a:prstGeom>
          <a:solidFill>
            <a:srgbClr val="F4A700"/>
          </a:solidFill>
          <a:ln w="12700">
            <a:solidFill>
              <a:srgbClr val="F4A7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594360" y="33375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4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/>
          </a:p>
        </p:txBody>
      </p:sp>
      <p:sp>
        <p:nvSpPr>
          <p:cNvPr id="14" name="Text 12"/>
          <p:cNvSpPr/>
          <p:nvPr/>
        </p:nvSpPr>
        <p:spPr>
          <a:xfrm>
            <a:off x="1115568" y="3474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&amp; Schéma</a:t>
            </a:r>
            <a:endParaRPr lang="en-US" sz="1500"/>
          </a:p>
        </p:txBody>
      </p:sp>
      <p:sp>
        <p:nvSpPr>
          <p:cNvPr id="15" name="Shape 13"/>
          <p:cNvSpPr/>
          <p:nvPr/>
        </p:nvSpPr>
        <p:spPr>
          <a:xfrm>
            <a:off x="4846320" y="109728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6" name="Shape 14"/>
          <p:cNvSpPr/>
          <p:nvPr/>
        </p:nvSpPr>
        <p:spPr>
          <a:xfrm>
            <a:off x="4846320" y="1097280"/>
            <a:ext cx="54864" cy="868680"/>
          </a:xfrm>
          <a:prstGeom prst="rect">
            <a:avLst/>
          </a:prstGeom>
          <a:solidFill>
            <a:srgbClr val="F4A700"/>
          </a:solidFill>
          <a:ln w="12700">
            <a:solidFill>
              <a:srgbClr val="F4A7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983480" y="114300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4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/>
          </a:p>
        </p:txBody>
      </p:sp>
      <p:sp>
        <p:nvSpPr>
          <p:cNvPr id="18" name="Text 16"/>
          <p:cNvSpPr/>
          <p:nvPr/>
        </p:nvSpPr>
        <p:spPr>
          <a:xfrm>
            <a:off x="5504688" y="128016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 utilisé</a:t>
            </a:r>
            <a:endParaRPr lang="en-US" sz="1500"/>
          </a:p>
        </p:txBody>
      </p:sp>
      <p:sp>
        <p:nvSpPr>
          <p:cNvPr id="19" name="Shape 17"/>
          <p:cNvSpPr/>
          <p:nvPr/>
        </p:nvSpPr>
        <p:spPr>
          <a:xfrm>
            <a:off x="4846320" y="219456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0" name="Shape 18"/>
          <p:cNvSpPr/>
          <p:nvPr/>
        </p:nvSpPr>
        <p:spPr>
          <a:xfrm>
            <a:off x="4846320" y="2194560"/>
            <a:ext cx="54864" cy="868680"/>
          </a:xfrm>
          <a:prstGeom prst="rect">
            <a:avLst/>
          </a:prstGeom>
          <a:solidFill>
            <a:srgbClr val="F4A700"/>
          </a:solidFill>
          <a:ln w="12700">
            <a:solidFill>
              <a:srgbClr val="F4A7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4983480" y="224028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4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/>
          </a:p>
        </p:txBody>
      </p:sp>
      <p:sp>
        <p:nvSpPr>
          <p:cNvPr id="22" name="Text 20"/>
          <p:cNvSpPr/>
          <p:nvPr/>
        </p:nvSpPr>
        <p:spPr>
          <a:xfrm>
            <a:off x="5504688" y="23774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Diagramme de Gantt</a:t>
            </a:r>
            <a:endParaRPr lang="en-US" sz="1500"/>
          </a:p>
        </p:txBody>
      </p:sp>
      <p:sp>
        <p:nvSpPr>
          <p:cNvPr id="23" name="Shape 21"/>
          <p:cNvSpPr/>
          <p:nvPr/>
        </p:nvSpPr>
        <p:spPr>
          <a:xfrm>
            <a:off x="4846320" y="3291840"/>
            <a:ext cx="40233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4846320" y="3291840"/>
            <a:ext cx="54864" cy="868680"/>
          </a:xfrm>
          <a:prstGeom prst="rect">
            <a:avLst/>
          </a:prstGeom>
          <a:solidFill>
            <a:srgbClr val="F4A700"/>
          </a:solidFill>
          <a:ln w="12700">
            <a:solidFill>
              <a:srgbClr val="F4A7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4983480" y="3337560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F4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/>
          </a:p>
        </p:txBody>
      </p:sp>
      <p:sp>
        <p:nvSpPr>
          <p:cNvPr id="26" name="Text 24"/>
          <p:cNvSpPr/>
          <p:nvPr/>
        </p:nvSpPr>
        <p:spPr>
          <a:xfrm>
            <a:off x="5504688" y="347472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Perspectives</a:t>
            </a:r>
            <a:endParaRPr lang="en-US" sz="15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0" grpId="0" animBg="1"/>
      <p:bldP spid="14" grpId="0" animBg="1"/>
      <p:bldP spid="18" grpId="0" animBg="1"/>
      <p:bldP spid="22" grpId="0" animBg="1"/>
      <p:bldP spid="2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 &amp; Problématique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F4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ce projet ?</a:t>
            </a:r>
            <a:endParaRPr lang="en-US" sz="170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éclairages extérieurs consomment de l'énergie inutilement.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la lumière à l'environnement améliore le confort et réduit la consommation.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Exemple : une lampe de jardin qui s'adapte automatiquement à la luminosité naturelle.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à petite échelle, mais concept entièrement applicable au monde réel.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1A3A5C"/>
          </a:solidFill>
          <a:ln w="254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029200" y="137160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4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Problématique</a:t>
            </a:r>
            <a:endParaRPr lang="en-US" sz="1600"/>
          </a:p>
        </p:txBody>
      </p:sp>
      <p:sp>
        <p:nvSpPr>
          <p:cNvPr id="8" name="Text 6"/>
          <p:cNvSpPr/>
          <p:nvPr/>
        </p:nvSpPr>
        <p:spPr>
          <a:xfrm>
            <a:off x="5029200" y="1874520"/>
            <a:ext cx="3474720" cy="2560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r>
              <a:rPr lang="en-US"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Comment </a:t>
            </a:r>
            <a:r>
              <a:rPr lang="en-US" sz="1400" i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concevoir</a:t>
            </a:r>
            <a:r>
              <a:rPr lang="en-US"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un </a:t>
            </a:r>
            <a:r>
              <a:rPr lang="en-US" sz="1400" i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système</a:t>
            </a:r>
            <a:r>
              <a:rPr lang="en-US"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i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embarqué</a:t>
            </a:r>
            <a:r>
              <a:rPr lang="en-US"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capable de </a:t>
            </a:r>
            <a:r>
              <a:rPr lang="en-US" sz="1400" i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mesurer</a:t>
            </a:r>
            <a:r>
              <a:rPr lang="en-US"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400" i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luminosité</a:t>
            </a:r>
            <a:r>
              <a:rPr lang="en-US"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i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ambiante</a:t>
            </a:r>
            <a:r>
              <a:rPr lang="en-US"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et </a:t>
            </a:r>
            <a:r>
              <a:rPr lang="en-US" sz="1400" i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d'ajuster</a:t>
            </a:r>
            <a:r>
              <a:rPr lang="en-US"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i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automatiquement</a:t>
            </a:r>
            <a:r>
              <a:rPr lang="en-US"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la couleur et </a:t>
            </a:r>
            <a:r>
              <a:rPr lang="en-US" sz="1400" i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l'intensité</a:t>
            </a:r>
            <a:r>
              <a:rPr lang="en-US"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400" i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d'une</a:t>
            </a:r>
            <a:r>
              <a:rPr lang="en-US"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LED via un </a:t>
            </a:r>
            <a:r>
              <a:rPr lang="en-US" sz="1400" i="1" err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capteur</a:t>
            </a:r>
            <a:r>
              <a:rPr lang="en-US" sz="1400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de lumière ?</a:t>
            </a:r>
            <a:endParaRPr lang="en-US" sz="14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du Système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2194560" cy="256032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20040" y="1234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</a:t>
            </a:r>
            <a:endParaRPr lang="en-US" sz="1300"/>
          </a:p>
        </p:txBody>
      </p:sp>
      <p:sp>
        <p:nvSpPr>
          <p:cNvPr id="5" name="Text 3"/>
          <p:cNvSpPr/>
          <p:nvPr/>
        </p:nvSpPr>
        <p:spPr>
          <a:xfrm>
            <a:off x="365760" y="182880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LTR-303A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(Luminosité)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3383280" y="1097280"/>
            <a:ext cx="2194560" cy="2560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3429000" y="1234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</a:t>
            </a:r>
            <a:endParaRPr lang="en-US" sz="1300"/>
          </a:p>
        </p:txBody>
      </p:sp>
      <p:sp>
        <p:nvSpPr>
          <p:cNvPr id="8" name="Text 6"/>
          <p:cNvSpPr/>
          <p:nvPr/>
        </p:nvSpPr>
        <p:spPr>
          <a:xfrm>
            <a:off x="3474720" y="1828800"/>
            <a:ext cx="20116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UCA</a:t>
            </a:r>
            <a:endParaRPr lang="en-US" sz="1300"/>
          </a:p>
          <a:p>
            <a:pPr marL="0" indent="0" algn="ctr">
              <a:buNone/>
            </a:pPr>
            <a:r>
              <a:rPr lang="en-US" sz="130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(LoRa 868 MHz)</a:t>
            </a: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6492240" y="1097280"/>
            <a:ext cx="2194560" cy="2560320"/>
          </a:xfrm>
          <a:prstGeom prst="rect">
            <a:avLst/>
          </a:prstGeom>
          <a:solidFill>
            <a:srgbClr val="F4A700"/>
          </a:solidFill>
          <a:ln w="12700">
            <a:solidFill>
              <a:srgbClr val="F4A7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5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6537960" y="123444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ACTIONNEUR</a:t>
            </a:r>
            <a:endParaRPr lang="en-US" sz="1300"/>
          </a:p>
        </p:txBody>
      </p:sp>
      <p:sp>
        <p:nvSpPr>
          <p:cNvPr id="11" name="Text 9"/>
          <p:cNvSpPr/>
          <p:nvPr/>
        </p:nvSpPr>
        <p:spPr>
          <a:xfrm>
            <a:off x="6583680" y="1828800"/>
            <a:ext cx="2011680" cy="14630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3 LEDs rouge, </a:t>
            </a:r>
            <a:r>
              <a:rPr lang="en-US" sz="130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bleue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et blanche</a:t>
            </a:r>
            <a:endParaRPr lang="en-US" sz="1300"/>
          </a:p>
          <a:p>
            <a:pPr algn="ctr"/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(</a:t>
            </a:r>
            <a:r>
              <a:rPr lang="en-US" sz="130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Perfboard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pcb</a:t>
            </a:r>
            <a:r>
              <a:rPr lang="en-US" sz="13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)</a:t>
            </a:r>
            <a:endParaRPr lang="en-US" sz="1300">
              <a:latin typeface="Calibri"/>
              <a:ea typeface="Calibri"/>
              <a:cs typeface="Calibri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487168" y="2377440"/>
            <a:ext cx="850392" cy="0"/>
          </a:xfrm>
          <a:prstGeom prst="line">
            <a:avLst/>
          </a:prstGeom>
          <a:noFill/>
          <a:ln w="38100">
            <a:solidFill>
              <a:srgbClr val="F4A7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3319272" y="2231136"/>
            <a:ext cx="18288" cy="292608"/>
          </a:xfrm>
          <a:prstGeom prst="rect">
            <a:avLst/>
          </a:prstGeom>
          <a:solidFill>
            <a:srgbClr val="F4A700"/>
          </a:solidFill>
          <a:ln w="12700">
            <a:solidFill>
              <a:srgbClr val="F4A7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5596128" y="2377440"/>
            <a:ext cx="850392" cy="0"/>
          </a:xfrm>
          <a:prstGeom prst="line">
            <a:avLst/>
          </a:prstGeom>
          <a:noFill/>
          <a:ln w="38100">
            <a:solidFill>
              <a:srgbClr val="F4A7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Shape 13"/>
          <p:cNvSpPr/>
          <p:nvPr/>
        </p:nvSpPr>
        <p:spPr>
          <a:xfrm>
            <a:off x="6428232" y="2231136"/>
            <a:ext cx="18288" cy="292608"/>
          </a:xfrm>
          <a:prstGeom prst="rect">
            <a:avLst/>
          </a:prstGeom>
          <a:solidFill>
            <a:srgbClr val="F4A700"/>
          </a:solidFill>
          <a:ln w="12700">
            <a:solidFill>
              <a:srgbClr val="F4A7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6" name="Text 14"/>
          <p:cNvSpPr/>
          <p:nvPr/>
        </p:nvSpPr>
        <p:spPr>
          <a:xfrm>
            <a:off x="2560320" y="38404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Radio-fréquence LoRa 868 MHz</a:t>
            </a:r>
            <a:endParaRPr lang="en-US" sz="1300"/>
          </a:p>
        </p:txBody>
      </p:sp>
      <p:sp>
        <p:nvSpPr>
          <p:cNvPr id="17" name="Text 15"/>
          <p:cNvSpPr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ctr"/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Le </a:t>
            </a:r>
            <a:r>
              <a:rPr lang="en-US" sz="120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capteur</a:t>
            </a: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20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luminosité</a:t>
            </a: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intégré</a:t>
            </a: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à la carte UCA </a:t>
            </a:r>
            <a:r>
              <a:rPr lang="en-US" sz="120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mesure</a:t>
            </a: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la lumière </a:t>
            </a:r>
            <a:r>
              <a:rPr lang="en-US" sz="120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ambiante</a:t>
            </a: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. La carte </a:t>
            </a:r>
            <a:r>
              <a:rPr lang="en-US" sz="120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traite</a:t>
            </a: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les données et </a:t>
            </a:r>
            <a:r>
              <a:rPr lang="en-US" sz="120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transmet</a:t>
            </a: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les </a:t>
            </a:r>
            <a:r>
              <a:rPr lang="en-US" sz="1200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commandes</a:t>
            </a:r>
            <a:r>
              <a:rPr lang="en-US" sz="1200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via LoRa pour adapter la couleur des LEDs.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9" grpId="0" animBg="1"/>
      <p:bldP spid="12" grpId="0" animBg="1"/>
      <p:bldP spid="1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&amp; Schéma</a:t>
            </a:r>
            <a:endParaRPr lang="en-US" sz="300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20240" cy="3291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36576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📡</a:t>
            </a:r>
            <a:endParaRPr lang="en-US" sz="2600"/>
          </a:p>
        </p:txBody>
      </p:sp>
      <p:sp>
        <p:nvSpPr>
          <p:cNvPr id="6" name="Text 4"/>
          <p:cNvSpPr/>
          <p:nvPr/>
        </p:nvSpPr>
        <p:spPr>
          <a:xfrm>
            <a:off x="365760" y="2057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4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1737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luminosité via capteur LTR-303A (I²C)</a:t>
            </a:r>
            <a:endParaRPr lang="en-US" sz="1200"/>
          </a:p>
        </p:txBody>
      </p:sp>
      <p:sp>
        <p:nvSpPr>
          <p:cNvPr id="8" name="Shape 6"/>
          <p:cNvSpPr/>
          <p:nvPr/>
        </p:nvSpPr>
        <p:spPr>
          <a:xfrm>
            <a:off x="2286000" y="2834640"/>
            <a:ext cx="182880" cy="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2468880" y="1188720"/>
            <a:ext cx="1920240" cy="3291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246888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⚙️</a:t>
            </a:r>
            <a:endParaRPr lang="en-US" sz="2600"/>
          </a:p>
        </p:txBody>
      </p:sp>
      <p:sp>
        <p:nvSpPr>
          <p:cNvPr id="11" name="Text 9"/>
          <p:cNvSpPr/>
          <p:nvPr/>
        </p:nvSpPr>
        <p:spPr>
          <a:xfrm>
            <a:off x="2468880" y="2057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4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Traitement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2560320" y="2560320"/>
            <a:ext cx="1737360" cy="1737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200" err="1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Calcul</a:t>
            </a:r>
            <a:r>
              <a:rPr lang="en-US" sz="1200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 du </a:t>
            </a:r>
            <a:r>
              <a:rPr lang="en-US" sz="1200" err="1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seuils</a:t>
            </a:r>
            <a:r>
              <a:rPr lang="en-US" sz="1200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 et </a:t>
            </a:r>
            <a:r>
              <a:rPr lang="en-US" sz="1200" err="1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commande</a:t>
            </a:r>
            <a:r>
              <a:rPr lang="en-US" sz="1200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 les couleurs</a:t>
            </a:r>
            <a:endParaRPr lang="en-US" sz="1200">
              <a:solidFill>
                <a:srgbClr val="F0F4F8"/>
              </a:solidFill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389120" y="2834640"/>
            <a:ext cx="182880" cy="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4572000" y="1188720"/>
            <a:ext cx="1920240" cy="3291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457200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📶</a:t>
            </a:r>
            <a:endParaRPr lang="en-US" sz="2600"/>
          </a:p>
        </p:txBody>
      </p:sp>
      <p:sp>
        <p:nvSpPr>
          <p:cNvPr id="16" name="Text 14"/>
          <p:cNvSpPr/>
          <p:nvPr/>
        </p:nvSpPr>
        <p:spPr>
          <a:xfrm>
            <a:off x="4572000" y="2057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4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4663440" y="2560320"/>
            <a:ext cx="1737360" cy="1737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200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Envoi des </a:t>
            </a:r>
            <a:r>
              <a:rPr lang="en-US" sz="1200" err="1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informations</a:t>
            </a:r>
            <a:r>
              <a:rPr lang="en-US" sz="1200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 via LoRa 868 MHz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92240" y="2834640"/>
            <a:ext cx="182880" cy="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6675120" y="1188720"/>
            <a:ext cx="1920240" cy="3291840"/>
          </a:xfrm>
          <a:prstGeom prst="rect">
            <a:avLst/>
          </a:prstGeom>
          <a:solidFill>
            <a:srgbClr val="1A3A5C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6675120" y="132588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>
                <a:solidFill>
                  <a:srgbClr val="000000"/>
                </a:solidFill>
              </a:rPr>
              <a:t>💡</a:t>
            </a:r>
            <a:endParaRPr lang="en-US" sz="2600"/>
          </a:p>
        </p:txBody>
      </p:sp>
      <p:sp>
        <p:nvSpPr>
          <p:cNvPr id="21" name="Text 19"/>
          <p:cNvSpPr/>
          <p:nvPr/>
        </p:nvSpPr>
        <p:spPr>
          <a:xfrm>
            <a:off x="6675120" y="2057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4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Actionnement</a:t>
            </a:r>
            <a:endParaRPr lang="en-US" sz="1400"/>
          </a:p>
        </p:txBody>
      </p:sp>
      <p:sp>
        <p:nvSpPr>
          <p:cNvPr id="22" name="Text 20"/>
          <p:cNvSpPr/>
          <p:nvPr/>
        </p:nvSpPr>
        <p:spPr>
          <a:xfrm>
            <a:off x="6766560" y="2560320"/>
            <a:ext cx="1737360" cy="17373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ctr"/>
            <a:r>
              <a:rPr lang="en-US" sz="1200" err="1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Allumage</a:t>
            </a:r>
            <a:r>
              <a:rPr lang="en-US" sz="1200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 LED (</a:t>
            </a:r>
            <a:r>
              <a:rPr lang="en-US" sz="1200" err="1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une</a:t>
            </a:r>
            <a:r>
              <a:rPr lang="en-US" sz="1200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 des trois </a:t>
            </a:r>
            <a:r>
              <a:rPr lang="en-US" sz="1200" err="1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selon</a:t>
            </a:r>
            <a:r>
              <a:rPr lang="en-US" sz="1200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200" err="1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luminosité</a:t>
            </a:r>
            <a:r>
              <a:rPr lang="en-US" sz="1200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) + </a:t>
            </a:r>
            <a:r>
              <a:rPr lang="en-US" sz="1200" err="1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affichage</a:t>
            </a:r>
            <a:r>
              <a:rPr lang="en-US" sz="1200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 de la </a:t>
            </a:r>
            <a:r>
              <a:rPr lang="en-US" sz="1200" err="1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valeur</a:t>
            </a:r>
            <a:r>
              <a:rPr lang="en-US" sz="1200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 de lux sur </a:t>
            </a:r>
            <a:r>
              <a:rPr lang="en-US" sz="1200" err="1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écran</a:t>
            </a:r>
            <a:r>
              <a:rPr lang="en-US" sz="1200">
                <a:solidFill>
                  <a:srgbClr val="F0F4F8"/>
                </a:solidFill>
                <a:latin typeface="Calibri"/>
                <a:ea typeface="Calibri"/>
                <a:cs typeface="Calibri"/>
              </a:rPr>
              <a:t> OLED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fonctionnel : Capteur → Carte UCA → LoRa → Récepteur → LED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9" grpId="0" animBg="1"/>
      <p:bldP spid="14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Matériel Utilisé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365760" y="960120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64008" cy="89611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02920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</a:rPr>
              <a:t>🔲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1078992" y="103327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UCA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1078992" y="139903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Microcontrôleur + LoRa 868 MHz intégré + capteur LTR-303A (luminosité)</a:t>
            </a:r>
            <a:endParaRPr lang="en-US" sz="110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Shape 7"/>
          <p:cNvSpPr/>
          <p:nvPr/>
        </p:nvSpPr>
        <p:spPr>
          <a:xfrm>
            <a:off x="4754880" y="960120"/>
            <a:ext cx="64008" cy="89611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8"/>
          <p:cNvSpPr/>
          <p:nvPr/>
        </p:nvSpPr>
        <p:spPr>
          <a:xfrm>
            <a:off x="4892040" y="10515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</a:rPr>
              <a:t>💡</a:t>
            </a:r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5468112" y="1033272"/>
            <a:ext cx="31089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3 LEDs rouge, </a:t>
            </a:r>
            <a:r>
              <a:rPr lang="en-US" sz="1400" b="1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bleue</a:t>
            </a:r>
            <a:r>
              <a:rPr lang="en-US" sz="1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 et blanche</a:t>
            </a:r>
            <a:endParaRPr lang="en-US" sz="1400" b="1">
              <a:solidFill>
                <a:srgbClr val="0D1B2A"/>
              </a:solidFill>
              <a:ea typeface="Calibri"/>
              <a:cs typeface="Calibri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5468112" y="1399032"/>
            <a:ext cx="31089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3 LEDs </a:t>
            </a:r>
            <a:r>
              <a:rPr lang="en-US" sz="110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selon</a:t>
            </a:r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la </a:t>
            </a:r>
            <a:r>
              <a:rPr lang="en-US" sz="110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luminosité</a:t>
            </a:r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0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ambiante</a:t>
            </a:r>
            <a:endParaRPr lang="en-US" sz="1100" err="1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4" name="Shape 12"/>
          <p:cNvSpPr/>
          <p:nvPr/>
        </p:nvSpPr>
        <p:spPr>
          <a:xfrm>
            <a:off x="365760" y="1965960"/>
            <a:ext cx="64008" cy="89611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50292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</a:rPr>
              <a:t>🖥️</a:t>
            </a:r>
            <a:endParaRPr lang="en-US" sz="2000"/>
          </a:p>
        </p:txBody>
      </p:sp>
      <p:sp>
        <p:nvSpPr>
          <p:cNvPr id="16" name="Text 14"/>
          <p:cNvSpPr/>
          <p:nvPr/>
        </p:nvSpPr>
        <p:spPr>
          <a:xfrm>
            <a:off x="1078992" y="203911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Écran OLED</a:t>
            </a:r>
            <a:endParaRPr lang="en-US" sz="1400"/>
          </a:p>
        </p:txBody>
      </p:sp>
      <p:sp>
        <p:nvSpPr>
          <p:cNvPr id="17" name="Text 15"/>
          <p:cNvSpPr/>
          <p:nvPr/>
        </p:nvSpPr>
        <p:spPr>
          <a:xfrm>
            <a:off x="1078992" y="240487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en temps réel de la valeur de luminosité (lux) mesurée</a:t>
            </a:r>
            <a:endParaRPr lang="en-US" sz="1100"/>
          </a:p>
        </p:txBody>
      </p:sp>
      <p:sp>
        <p:nvSpPr>
          <p:cNvPr id="18" name="Shape 16"/>
          <p:cNvSpPr/>
          <p:nvPr/>
        </p:nvSpPr>
        <p:spPr>
          <a:xfrm>
            <a:off x="4754880" y="1965960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64008" cy="89611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0" name="Text 18"/>
          <p:cNvSpPr/>
          <p:nvPr/>
        </p:nvSpPr>
        <p:spPr>
          <a:xfrm>
            <a:off x="4892040" y="20574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</a:rPr>
              <a:t>🧩</a:t>
            </a:r>
            <a:endParaRPr lang="en-US" sz="2000"/>
          </a:p>
        </p:txBody>
      </p:sp>
      <p:sp>
        <p:nvSpPr>
          <p:cNvPr id="21" name="Text 19"/>
          <p:cNvSpPr/>
          <p:nvPr/>
        </p:nvSpPr>
        <p:spPr>
          <a:xfrm>
            <a:off x="5468112" y="2039112"/>
            <a:ext cx="31089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>
                <a:solidFill>
                  <a:srgbClr val="0D1B2A"/>
                </a:solidFill>
                <a:ea typeface="Calibri"/>
                <a:cs typeface="Calibri"/>
              </a:rPr>
              <a:t>PCB de </a:t>
            </a:r>
            <a:r>
              <a:rPr lang="en-US" sz="1400" b="1" err="1">
                <a:solidFill>
                  <a:srgbClr val="0D1B2A"/>
                </a:solidFill>
                <a:ea typeface="Calibri"/>
                <a:cs typeface="Calibri"/>
              </a:rPr>
              <a:t>prototypage</a:t>
            </a:r>
          </a:p>
        </p:txBody>
      </p:sp>
      <p:sp>
        <p:nvSpPr>
          <p:cNvPr id="22" name="Text 20"/>
          <p:cNvSpPr/>
          <p:nvPr/>
        </p:nvSpPr>
        <p:spPr>
          <a:xfrm>
            <a:off x="5468112" y="2404872"/>
            <a:ext cx="31089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8899AA"/>
                </a:solidFill>
                <a:ea typeface="Calibri"/>
                <a:cs typeface="Calibri"/>
              </a:rPr>
              <a:t>Plaque </a:t>
            </a:r>
            <a:r>
              <a:rPr lang="en-US" sz="1100" err="1">
                <a:solidFill>
                  <a:srgbClr val="8899AA"/>
                </a:solidFill>
                <a:ea typeface="Calibri"/>
                <a:cs typeface="Calibri"/>
              </a:rPr>
              <a:t>perforée</a:t>
            </a:r>
            <a:r>
              <a:rPr lang="en-US" sz="1100">
                <a:solidFill>
                  <a:srgbClr val="8899AA"/>
                </a:solidFill>
                <a:ea typeface="Calibri"/>
                <a:cs typeface="Calibri"/>
              </a:rPr>
              <a:t> de </a:t>
            </a:r>
            <a:r>
              <a:rPr lang="en-US" sz="1100" err="1">
                <a:solidFill>
                  <a:srgbClr val="8899AA"/>
                </a:solidFill>
                <a:ea typeface="Calibri"/>
                <a:cs typeface="Calibri"/>
              </a:rPr>
              <a:t>protypage</a:t>
            </a:r>
          </a:p>
        </p:txBody>
      </p:sp>
      <p:sp>
        <p:nvSpPr>
          <p:cNvPr id="23" name="Shape 21"/>
          <p:cNvSpPr/>
          <p:nvPr/>
        </p:nvSpPr>
        <p:spPr>
          <a:xfrm>
            <a:off x="365760" y="2971800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4" name="Shape 22"/>
          <p:cNvSpPr/>
          <p:nvPr/>
        </p:nvSpPr>
        <p:spPr>
          <a:xfrm>
            <a:off x="365760" y="2971800"/>
            <a:ext cx="64008" cy="89611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50292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</a:rPr>
              <a:t>🔌</a:t>
            </a:r>
            <a:endParaRPr lang="en-US" sz="2000"/>
          </a:p>
        </p:txBody>
      </p:sp>
      <p:sp>
        <p:nvSpPr>
          <p:cNvPr id="26" name="Text 24"/>
          <p:cNvSpPr/>
          <p:nvPr/>
        </p:nvSpPr>
        <p:spPr>
          <a:xfrm>
            <a:off x="1078992" y="304495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Fils de connexion</a:t>
            </a:r>
            <a:endParaRPr lang="en-US" sz="1400"/>
          </a:p>
        </p:txBody>
      </p:sp>
      <p:sp>
        <p:nvSpPr>
          <p:cNvPr id="27" name="Text 25"/>
          <p:cNvSpPr/>
          <p:nvPr/>
        </p:nvSpPr>
        <p:spPr>
          <a:xfrm>
            <a:off x="1078992" y="34107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Câblage des composants sur la breadboard</a:t>
            </a:r>
            <a:endParaRPr lang="en-US" sz="1100"/>
          </a:p>
        </p:txBody>
      </p:sp>
      <p:sp>
        <p:nvSpPr>
          <p:cNvPr id="28" name="Shape 26"/>
          <p:cNvSpPr/>
          <p:nvPr/>
        </p:nvSpPr>
        <p:spPr>
          <a:xfrm>
            <a:off x="4754880" y="2971800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4754880" y="2971800"/>
            <a:ext cx="64008" cy="89611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4892040" y="3063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</a:rPr>
              <a:t>⚡</a:t>
            </a:r>
            <a:endParaRPr lang="en-US" sz="2000"/>
          </a:p>
        </p:txBody>
      </p:sp>
      <p:sp>
        <p:nvSpPr>
          <p:cNvPr id="31" name="Text 29"/>
          <p:cNvSpPr/>
          <p:nvPr/>
        </p:nvSpPr>
        <p:spPr>
          <a:xfrm>
            <a:off x="5468112" y="3044952"/>
            <a:ext cx="3108960" cy="34747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b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3 </a:t>
            </a:r>
            <a:r>
              <a:rPr lang="en-US" sz="1400" b="1" err="1">
                <a:solidFill>
                  <a:srgbClr val="0D1B2A"/>
                </a:solidFill>
                <a:latin typeface="Calibri"/>
                <a:ea typeface="Calibri"/>
                <a:cs typeface="Calibri"/>
              </a:rPr>
              <a:t>Résistances</a:t>
            </a:r>
            <a:endParaRPr lang="en-US" sz="1400" err="1">
              <a:latin typeface="Calibri"/>
              <a:ea typeface="Calibri"/>
              <a:cs typeface="Calibri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468112" y="3410712"/>
            <a:ext cx="310896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Protection des LEDs </a:t>
            </a:r>
            <a:r>
              <a:rPr lang="en-US" sz="110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contre</a:t>
            </a:r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les </a:t>
            </a:r>
            <a:r>
              <a:rPr lang="en-US" sz="1100" err="1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surintensités</a:t>
            </a:r>
            <a:r>
              <a:rPr lang="en-US" sz="1100">
                <a:solidFill>
                  <a:srgbClr val="8899AA"/>
                </a:solidFill>
                <a:latin typeface="Calibri"/>
                <a:ea typeface="Calibri"/>
                <a:cs typeface="Calibri"/>
              </a:rPr>
              <a:t> (220 Ohm)</a:t>
            </a:r>
            <a:endParaRPr lang="en-US" sz="1100">
              <a:solidFill>
                <a:srgbClr val="8899AA"/>
              </a:solidFill>
              <a:ea typeface="Calibri"/>
              <a:cs typeface="Calibri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365760" y="3977640"/>
            <a:ext cx="402336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CE8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365760" y="3977640"/>
            <a:ext cx="64008" cy="896112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502920" y="4069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>
                <a:solidFill>
                  <a:srgbClr val="000000"/>
                </a:solidFill>
              </a:rPr>
              <a:t>🔧</a:t>
            </a:r>
            <a:endParaRPr lang="en-US" sz="2000"/>
          </a:p>
        </p:txBody>
      </p:sp>
      <p:sp>
        <p:nvSpPr>
          <p:cNvPr id="36" name="Text 34"/>
          <p:cNvSpPr/>
          <p:nvPr/>
        </p:nvSpPr>
        <p:spPr>
          <a:xfrm>
            <a:off x="1078992" y="4050792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Soudure</a:t>
            </a:r>
            <a:endParaRPr lang="en-US" sz="1400"/>
          </a:p>
        </p:txBody>
      </p:sp>
      <p:sp>
        <p:nvSpPr>
          <p:cNvPr id="37" name="Text 35"/>
          <p:cNvSpPr/>
          <p:nvPr/>
        </p:nvSpPr>
        <p:spPr>
          <a:xfrm>
            <a:off x="1078992" y="441655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Soudure de composants nécessitant une connexion permanente</a:t>
            </a:r>
            <a:endParaRPr lang="en-US" sz="11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3" grpId="0" animBg="1"/>
      <p:bldP spid="18" grpId="0" animBg="1"/>
      <p:bldP spid="23" grpId="0" animBg="1"/>
      <p:bldP spid="28" grpId="0" animBg="1"/>
      <p:bldP spid="3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Capteur Clé : LTR-303A (Luminosité)</a:t>
            </a:r>
            <a:endParaRPr lang="en-US" sz="280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04672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594360" y="13258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4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</a:t>
            </a:r>
            <a:endParaRPr lang="en-US" sz="1400"/>
          </a:p>
        </p:txBody>
      </p:sp>
      <p:sp>
        <p:nvSpPr>
          <p:cNvPr id="6" name="Text 4"/>
          <p:cNvSpPr/>
          <p:nvPr/>
        </p:nvSpPr>
        <p:spPr>
          <a:xfrm>
            <a:off x="2743200" y="132588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I²C — intégré sur la carte UCA</a:t>
            </a:r>
            <a:endParaRPr lang="en-US" sz="1400"/>
          </a:p>
        </p:txBody>
      </p:sp>
      <p:sp>
        <p:nvSpPr>
          <p:cNvPr id="7" name="Shape 5"/>
          <p:cNvSpPr/>
          <p:nvPr/>
        </p:nvSpPr>
        <p:spPr>
          <a:xfrm>
            <a:off x="457200" y="1911096"/>
            <a:ext cx="8046720" cy="566928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594360" y="20025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4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Plage</a:t>
            </a:r>
            <a:endParaRPr lang="en-US" sz="1400"/>
          </a:p>
        </p:txBody>
      </p:sp>
      <p:sp>
        <p:nvSpPr>
          <p:cNvPr id="9" name="Text 7"/>
          <p:cNvSpPr/>
          <p:nvPr/>
        </p:nvSpPr>
        <p:spPr>
          <a:xfrm>
            <a:off x="2743200" y="2002536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0,01 lux → 64 000 lux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457200" y="2587752"/>
            <a:ext cx="804672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594360" y="26791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4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</a:t>
            </a:r>
            <a:endParaRPr lang="en-US" sz="1400"/>
          </a:p>
        </p:txBody>
      </p:sp>
      <p:sp>
        <p:nvSpPr>
          <p:cNvPr id="12" name="Text 10"/>
          <p:cNvSpPr/>
          <p:nvPr/>
        </p:nvSpPr>
        <p:spPr>
          <a:xfrm>
            <a:off x="2743200" y="267919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Linéaire sur toute la plage</a:t>
            </a:r>
            <a:endParaRPr lang="en-US" sz="1400"/>
          </a:p>
        </p:txBody>
      </p:sp>
      <p:sp>
        <p:nvSpPr>
          <p:cNvPr id="13" name="Shape 11"/>
          <p:cNvSpPr/>
          <p:nvPr/>
        </p:nvSpPr>
        <p:spPr>
          <a:xfrm>
            <a:off x="457200" y="3264408"/>
            <a:ext cx="8046720" cy="566928"/>
          </a:xfrm>
          <a:prstGeom prst="rect">
            <a:avLst/>
          </a:prstGeom>
          <a:solidFill>
            <a:srgbClr val="1B2B3A"/>
          </a:solidFill>
          <a:ln w="12700">
            <a:solidFill>
              <a:srgbClr val="1B2B3A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594360" y="3355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4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400"/>
          </a:p>
        </p:txBody>
      </p:sp>
      <p:sp>
        <p:nvSpPr>
          <p:cNvPr id="15" name="Text 13"/>
          <p:cNvSpPr/>
          <p:nvPr/>
        </p:nvSpPr>
        <p:spPr>
          <a:xfrm>
            <a:off x="2743200" y="3355848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Forte luminosité ambiante</a:t>
            </a:r>
            <a:endParaRPr lang="en-US" sz="1400"/>
          </a:p>
        </p:txBody>
      </p:sp>
      <p:sp>
        <p:nvSpPr>
          <p:cNvPr id="16" name="Shape 14"/>
          <p:cNvSpPr/>
          <p:nvPr/>
        </p:nvSpPr>
        <p:spPr>
          <a:xfrm>
            <a:off x="457200" y="3941064"/>
            <a:ext cx="8046720" cy="566928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594360" y="403250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F4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</a:t>
            </a:r>
            <a:endParaRPr lang="en-US" sz="1400"/>
          </a:p>
        </p:txBody>
      </p:sp>
      <p:sp>
        <p:nvSpPr>
          <p:cNvPr id="18" name="Text 16"/>
          <p:cNvSpPr/>
          <p:nvPr/>
        </p:nvSpPr>
        <p:spPr>
          <a:xfrm>
            <a:off x="2743200" y="4032504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Détecter jour / nuit / ombre</a:t>
            </a:r>
            <a:endParaRPr lang="en-US" sz="1400"/>
          </a:p>
        </p:txBody>
      </p:sp>
      <p:sp>
        <p:nvSpPr>
          <p:cNvPr id="19" name="Text 17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capteur LTR-303A est intégré à la carte UCA — aucun câblage supplémentaire requis.</a:t>
            </a:r>
            <a:endParaRPr lang="en-US" sz="12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0" grpId="0" animBg="1"/>
      <p:bldP spid="13" grpId="0" animBg="1"/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Diagramme de Gantt</a:t>
            </a:r>
            <a:endParaRPr lang="en-US" sz="3000"/>
          </a:p>
        </p:txBody>
      </p:sp>
      <p:sp>
        <p:nvSpPr>
          <p:cNvPr id="3" name="Shape 1"/>
          <p:cNvSpPr/>
          <p:nvPr/>
        </p:nvSpPr>
        <p:spPr>
          <a:xfrm>
            <a:off x="274320" y="960120"/>
            <a:ext cx="8595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2"/>
          <p:cNvSpPr/>
          <p:nvPr/>
        </p:nvSpPr>
        <p:spPr>
          <a:xfrm>
            <a:off x="320040" y="103327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/>
          </a:p>
        </p:txBody>
      </p:sp>
      <p:sp>
        <p:nvSpPr>
          <p:cNvPr id="5" name="Text 3"/>
          <p:cNvSpPr/>
          <p:nvPr/>
        </p:nvSpPr>
        <p:spPr>
          <a:xfrm>
            <a:off x="1143000" y="103327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3–9 avr.</a:t>
            </a:r>
            <a:endParaRPr lang="en-US" sz="1000"/>
          </a:p>
        </p:txBody>
      </p:sp>
      <p:sp>
        <p:nvSpPr>
          <p:cNvPr id="6" name="Text 4"/>
          <p:cNvSpPr/>
          <p:nvPr/>
        </p:nvSpPr>
        <p:spPr>
          <a:xfrm>
            <a:off x="2514600" y="103327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équipes, Brainstorming, Cahier des charges</a:t>
            </a:r>
            <a:endParaRPr lang="en-US" sz="100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97764" cy="2834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Shape 6"/>
          <p:cNvSpPr/>
          <p:nvPr/>
        </p:nvSpPr>
        <p:spPr>
          <a:xfrm>
            <a:off x="274320" y="1472184"/>
            <a:ext cx="8595360" cy="484632"/>
          </a:xfrm>
          <a:prstGeom prst="rect">
            <a:avLst/>
          </a:prstGeom>
          <a:solidFill>
            <a:srgbClr val="EEF2F7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320040" y="154533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1143000" y="154533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13–16 avr.</a:t>
            </a:r>
            <a:endParaRPr lang="en-US" sz="1000"/>
          </a:p>
        </p:txBody>
      </p:sp>
      <p:sp>
        <p:nvSpPr>
          <p:cNvPr id="11" name="Text 9"/>
          <p:cNvSpPr/>
          <p:nvPr/>
        </p:nvSpPr>
        <p:spPr>
          <a:xfrm>
            <a:off x="2514600" y="154533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GitHub + Démarrage projet</a:t>
            </a:r>
            <a:endParaRPr lang="en-US" sz="1000"/>
          </a:p>
        </p:txBody>
      </p:sp>
      <p:sp>
        <p:nvSpPr>
          <p:cNvPr id="12" name="Shape 10"/>
          <p:cNvSpPr/>
          <p:nvPr/>
        </p:nvSpPr>
        <p:spPr>
          <a:xfrm>
            <a:off x="5280660" y="1563624"/>
            <a:ext cx="397764" cy="2834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Shape 11"/>
          <p:cNvSpPr/>
          <p:nvPr/>
        </p:nvSpPr>
        <p:spPr>
          <a:xfrm>
            <a:off x="274320" y="1984248"/>
            <a:ext cx="8595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320040" y="2057400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/>
          </a:p>
        </p:txBody>
      </p:sp>
      <p:sp>
        <p:nvSpPr>
          <p:cNvPr id="15" name="Text 13"/>
          <p:cNvSpPr/>
          <p:nvPr/>
        </p:nvSpPr>
        <p:spPr>
          <a:xfrm>
            <a:off x="1143000" y="20574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20–23 avr.</a:t>
            </a:r>
            <a:endParaRPr lang="en-US" sz="1000"/>
          </a:p>
        </p:txBody>
      </p:sp>
      <p:sp>
        <p:nvSpPr>
          <p:cNvPr id="16" name="Text 14"/>
          <p:cNvSpPr/>
          <p:nvPr/>
        </p:nvSpPr>
        <p:spPr>
          <a:xfrm>
            <a:off x="2514600" y="205740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000"/>
          </a:p>
        </p:txBody>
      </p:sp>
      <p:sp>
        <p:nvSpPr>
          <p:cNvPr id="17" name="Shape 15"/>
          <p:cNvSpPr/>
          <p:nvPr/>
        </p:nvSpPr>
        <p:spPr>
          <a:xfrm>
            <a:off x="5715000" y="2075688"/>
            <a:ext cx="397764" cy="2834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8" name="Shape 16"/>
          <p:cNvSpPr/>
          <p:nvPr/>
        </p:nvSpPr>
        <p:spPr>
          <a:xfrm>
            <a:off x="274320" y="2496312"/>
            <a:ext cx="8595360" cy="484632"/>
          </a:xfrm>
          <a:prstGeom prst="rect">
            <a:avLst/>
          </a:prstGeom>
          <a:solidFill>
            <a:srgbClr val="EEF2F7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320040" y="2569464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1143000" y="2569464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27–30 avr.</a:t>
            </a:r>
            <a:endParaRPr lang="en-US" sz="1000"/>
          </a:p>
        </p:txBody>
      </p:sp>
      <p:sp>
        <p:nvSpPr>
          <p:cNvPr id="21" name="Text 19"/>
          <p:cNvSpPr/>
          <p:nvPr/>
        </p:nvSpPr>
        <p:spPr>
          <a:xfrm>
            <a:off x="2514600" y="25694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intermédiaire</a:t>
            </a:r>
            <a:endParaRPr lang="en-US" sz="1000"/>
          </a:p>
        </p:txBody>
      </p:sp>
      <p:sp>
        <p:nvSpPr>
          <p:cNvPr id="22" name="Shape 20"/>
          <p:cNvSpPr/>
          <p:nvPr/>
        </p:nvSpPr>
        <p:spPr>
          <a:xfrm>
            <a:off x="6149340" y="2587752"/>
            <a:ext cx="397764" cy="283464"/>
          </a:xfrm>
          <a:prstGeom prst="rect">
            <a:avLst/>
          </a:prstGeom>
          <a:solidFill>
            <a:srgbClr val="F4A700"/>
          </a:solidFill>
          <a:ln w="12700">
            <a:solidFill>
              <a:srgbClr val="F4A7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3" name="Shape 21"/>
          <p:cNvSpPr/>
          <p:nvPr/>
        </p:nvSpPr>
        <p:spPr>
          <a:xfrm>
            <a:off x="274320" y="3008376"/>
            <a:ext cx="8595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320040" y="3081528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S5–6</a:t>
            </a:r>
            <a:endParaRPr lang="en-US" sz="1100"/>
          </a:p>
        </p:txBody>
      </p:sp>
      <p:sp>
        <p:nvSpPr>
          <p:cNvPr id="25" name="Text 23"/>
          <p:cNvSpPr/>
          <p:nvPr/>
        </p:nvSpPr>
        <p:spPr>
          <a:xfrm>
            <a:off x="1143000" y="3081528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4–14 mai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2514600" y="308152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 &amp; intégration</a:t>
            </a:r>
            <a:endParaRPr lang="en-US" sz="1000"/>
          </a:p>
        </p:txBody>
      </p:sp>
      <p:sp>
        <p:nvSpPr>
          <p:cNvPr id="27" name="Shape 25"/>
          <p:cNvSpPr/>
          <p:nvPr/>
        </p:nvSpPr>
        <p:spPr>
          <a:xfrm>
            <a:off x="6583680" y="3099816"/>
            <a:ext cx="397764" cy="2834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8" name="Shape 26"/>
          <p:cNvSpPr/>
          <p:nvPr/>
        </p:nvSpPr>
        <p:spPr>
          <a:xfrm>
            <a:off x="7018020" y="3099816"/>
            <a:ext cx="397764" cy="2834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9" name="Shape 27"/>
          <p:cNvSpPr/>
          <p:nvPr/>
        </p:nvSpPr>
        <p:spPr>
          <a:xfrm>
            <a:off x="274320" y="3520440"/>
            <a:ext cx="8595360" cy="484632"/>
          </a:xfrm>
          <a:prstGeom prst="rect">
            <a:avLst/>
          </a:prstGeom>
          <a:solidFill>
            <a:srgbClr val="EEF2F7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0" name="Text 28"/>
          <p:cNvSpPr/>
          <p:nvPr/>
        </p:nvSpPr>
        <p:spPr>
          <a:xfrm>
            <a:off x="320040" y="359359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S7</a:t>
            </a:r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1143000" y="3593592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18–21 mai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2514600" y="359359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Finalisation démonstrateur</a:t>
            </a:r>
            <a:endParaRPr lang="en-US" sz="1000"/>
          </a:p>
        </p:txBody>
      </p:sp>
      <p:sp>
        <p:nvSpPr>
          <p:cNvPr id="33" name="Shape 31"/>
          <p:cNvSpPr/>
          <p:nvPr/>
        </p:nvSpPr>
        <p:spPr>
          <a:xfrm>
            <a:off x="7452360" y="3611880"/>
            <a:ext cx="397764" cy="283464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4" name="Shape 32"/>
          <p:cNvSpPr/>
          <p:nvPr/>
        </p:nvSpPr>
        <p:spPr>
          <a:xfrm>
            <a:off x="274320" y="4032504"/>
            <a:ext cx="8595360" cy="484632"/>
          </a:xfrm>
          <a:prstGeom prst="rect">
            <a:avLst/>
          </a:prstGeom>
          <a:solidFill>
            <a:srgbClr val="FFFFFF"/>
          </a:solidFill>
          <a:ln w="6350">
            <a:solidFill>
              <a:srgbClr val="D0DCE8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5" name="Text 33"/>
          <p:cNvSpPr/>
          <p:nvPr/>
        </p:nvSpPr>
        <p:spPr>
          <a:xfrm>
            <a:off x="320040" y="4105656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S8</a:t>
            </a:r>
            <a:endParaRPr lang="en-US" sz="1100"/>
          </a:p>
        </p:txBody>
      </p:sp>
      <p:sp>
        <p:nvSpPr>
          <p:cNvPr id="36" name="Text 34"/>
          <p:cNvSpPr/>
          <p:nvPr/>
        </p:nvSpPr>
        <p:spPr>
          <a:xfrm>
            <a:off x="1143000" y="4105656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26–28 mai</a:t>
            </a:r>
            <a:endParaRPr lang="en-US" sz="1000"/>
          </a:p>
        </p:txBody>
      </p:sp>
      <p:sp>
        <p:nvSpPr>
          <p:cNvPr id="37" name="Text 35"/>
          <p:cNvSpPr/>
          <p:nvPr/>
        </p:nvSpPr>
        <p:spPr>
          <a:xfrm>
            <a:off x="2514600" y="410565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finale + démo</a:t>
            </a:r>
            <a:endParaRPr lang="en-US" sz="1000"/>
          </a:p>
        </p:txBody>
      </p:sp>
      <p:sp>
        <p:nvSpPr>
          <p:cNvPr id="38" name="Shape 36"/>
          <p:cNvSpPr/>
          <p:nvPr/>
        </p:nvSpPr>
        <p:spPr>
          <a:xfrm>
            <a:off x="7886700" y="4123944"/>
            <a:ext cx="397764" cy="283464"/>
          </a:xfrm>
          <a:prstGeom prst="rect">
            <a:avLst/>
          </a:prstGeom>
          <a:solidFill>
            <a:srgbClr val="F4A700"/>
          </a:solidFill>
          <a:ln w="12700">
            <a:solidFill>
              <a:srgbClr val="F4A7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9" name="Shape 37"/>
          <p:cNvSpPr/>
          <p:nvPr/>
        </p:nvSpPr>
        <p:spPr>
          <a:xfrm>
            <a:off x="4846320" y="4663440"/>
            <a:ext cx="274320" cy="201168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0" name="Text 38"/>
          <p:cNvSpPr/>
          <p:nvPr/>
        </p:nvSpPr>
        <p:spPr>
          <a:xfrm>
            <a:off x="5166360" y="46177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Développement</a:t>
            </a:r>
            <a:endParaRPr lang="en-US" sz="1000"/>
          </a:p>
        </p:txBody>
      </p:sp>
      <p:sp>
        <p:nvSpPr>
          <p:cNvPr id="41" name="Shape 39"/>
          <p:cNvSpPr/>
          <p:nvPr/>
        </p:nvSpPr>
        <p:spPr>
          <a:xfrm>
            <a:off x="6949440" y="4663440"/>
            <a:ext cx="274320" cy="201168"/>
          </a:xfrm>
          <a:prstGeom prst="rect">
            <a:avLst/>
          </a:prstGeom>
          <a:solidFill>
            <a:srgbClr val="F4A700"/>
          </a:solidFill>
          <a:ln w="12700">
            <a:solidFill>
              <a:srgbClr val="F4A7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2" name="Text 40"/>
          <p:cNvSpPr/>
          <p:nvPr/>
        </p:nvSpPr>
        <p:spPr>
          <a:xfrm>
            <a:off x="7269480" y="461772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</a:t>
            </a:r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8" grpId="0" animBg="1"/>
      <p:bldP spid="13" grpId="0" animBg="1"/>
      <p:bldP spid="18" grpId="0" animBg="1"/>
      <p:bldP spid="23" grpId="0" animBg="1"/>
      <p:bldP spid="29" grpId="0" animBg="1"/>
      <p:bldP spid="3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4A700"/>
          </a:solidFill>
          <a:ln w="12700">
            <a:solidFill>
              <a:srgbClr val="F4A70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Perspectives</a:t>
            </a:r>
            <a:endParaRPr lang="en-US" sz="3000"/>
          </a:p>
        </p:txBody>
      </p:sp>
      <p:sp>
        <p:nvSpPr>
          <p:cNvPr id="4" name="Text 2"/>
          <p:cNvSpPr/>
          <p:nvPr/>
        </p:nvSpPr>
        <p:spPr>
          <a:xfrm>
            <a:off x="457200" y="11430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4A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le projet apportera</a:t>
            </a:r>
            <a:endParaRPr lang="en-US" sz="1600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Maîtrise de la communication LoRa sur carte UCA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capteur–traitement–actionnement en système complet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Expérience de travail en équipe et gestion de projet</a:t>
            </a:r>
            <a:endParaRPr lang="en-US" sz="1300"/>
          </a:p>
          <a:p>
            <a:pPr marL="342900" indent="-342900">
              <a:buSzPct val="100000"/>
              <a:buChar char="•"/>
            </a:pPr>
            <a:r>
              <a:rPr lang="en-US" sz="130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Publication du code et du montage sur GitHub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4846320" y="1097280"/>
            <a:ext cx="3840480" cy="3657600"/>
          </a:xfrm>
          <a:prstGeom prst="rect">
            <a:avLst/>
          </a:prstGeom>
          <a:solidFill>
            <a:srgbClr val="1A3A5C"/>
          </a:solidFill>
          <a:ln w="25400">
            <a:solidFill>
              <a:srgbClr val="0E7C86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5029200" y="128016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Améliorations futures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5029200" y="17830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Intégrer une batterie rechargeable (solaire)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pour contrôle manuel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Multiples lampes en réseau LoRaWAN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Boîtier imprimé en 3D pour usage extérieur</a:t>
            </a:r>
            <a:endParaRPr lang="en-US" sz="1200"/>
          </a:p>
          <a:p>
            <a:pPr marL="342900" indent="-342900">
              <a:buSzPct val="100000"/>
              <a:buChar char="•"/>
            </a:pPr>
            <a:r>
              <a:rPr lang="en-US" sz="12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Ajout d'un capteur de présence (PIR)</a:t>
            </a:r>
            <a:endParaRPr lang="en-US" sz="1200"/>
          </a:p>
        </p:txBody>
      </p:sp>
      <p:sp>
        <p:nvSpPr>
          <p:cNvPr id="9" name="Text 7"/>
          <p:cNvSpPr/>
          <p:nvPr/>
        </p:nvSpPr>
        <p:spPr>
          <a:xfrm>
            <a:off x="457200" y="48463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CSF 2025–2026  •  Université Côte d'Azur  •  Lampe Connectée</a:t>
            </a:r>
            <a:endParaRPr lang="en-US" sz="10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6FE7846786BA449FD3A5A298D56B9D" ma:contentTypeVersion="5" ma:contentTypeDescription="Crée un document." ma:contentTypeScope="" ma:versionID="ac56b0332cbab1f2251b6b082145affb">
  <xsd:schema xmlns:xsd="http://www.w3.org/2001/XMLSchema" xmlns:xs="http://www.w3.org/2001/XMLSchema" xmlns:p="http://schemas.microsoft.com/office/2006/metadata/properties" xmlns:ns3="b05417e1-eb89-4392-aea8-ecdaf8fc0423" targetNamespace="http://schemas.microsoft.com/office/2006/metadata/properties" ma:root="true" ma:fieldsID="6ad5bb4412d75f9b9edab12629849d00" ns3:_="">
    <xsd:import namespace="b05417e1-eb89-4392-aea8-ecdaf8fc0423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05417e1-eb89-4392-aea8-ecdaf8fc0423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9" nillable="true" ma:displayName="_activity" ma:hidden="true" ma:internalName="_activity">
      <xsd:simpleType>
        <xsd:restriction base="dms:Note"/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05417e1-eb89-4392-aea8-ecdaf8fc0423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1DB0B46-C512-4492-B7F9-0358230F1C9B}">
  <ds:schemaRefs>
    <ds:schemaRef ds:uri="b05417e1-eb89-4392-aea8-ecdaf8fc042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DB388B4-A172-432A-B06E-6370E0B2A1B6}">
  <ds:schemaRefs>
    <ds:schemaRef ds:uri="b05417e1-eb89-4392-aea8-ecdaf8fc042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12775F6-DEB5-49C0-932B-4C3C836525F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Affichage à l'écran (16:9)</PresentationFormat>
  <Slides>9</Slides>
  <Notes>9</Notes>
  <HiddenSlides>0</HiddenSlide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0" baseType="lpstr"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Lampe Connectée - Projet CSF 2025-2026</dc:title>
  <dc:subject>PptxGenJS Presentation</dc:subject>
  <dc:creator>PptxGenJS</dc:creator>
  <cp:revision>4</cp:revision>
  <dcterms:created xsi:type="dcterms:W3CDTF">2026-04-26T17:21:58Z</dcterms:created>
  <dcterms:modified xsi:type="dcterms:W3CDTF">2026-05-27T10:06:10Z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0x010100CD6FE7846786BA449FD3A5A298D56B9D</vt:lpwstr>
  </property>
</Properties>
</file>